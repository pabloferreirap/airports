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Plus Jakarta Sa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6.xml"/><Relationship Id="rId22" Type="http://schemas.openxmlformats.org/officeDocument/2006/relationships/font" Target="fonts/PlusJakartaSansMedium-bold.fntdata"/><Relationship Id="rId10" Type="http://schemas.openxmlformats.org/officeDocument/2006/relationships/slide" Target="slides/slide5.xml"/><Relationship Id="rId21" Type="http://schemas.openxmlformats.org/officeDocument/2006/relationships/font" Target="fonts/PlusJakartaSansMedium-regular.fntdata"/><Relationship Id="rId13" Type="http://schemas.openxmlformats.org/officeDocument/2006/relationships/slide" Target="slides/slide8.xml"/><Relationship Id="rId24" Type="http://schemas.openxmlformats.org/officeDocument/2006/relationships/font" Target="fonts/PlusJakartaSans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PlusJakarta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5f47022408747a0d_2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5f47022408747a0d_2_15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5657701"/>
            <a:ext cx="10820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753475" y="576262"/>
            <a:ext cx="2752725" cy="3143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85800" y="4496544"/>
            <a:ext cx="6858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5800" y="5657701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3340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19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905875" y="633412"/>
            <a:ext cx="254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Schengen Expansion Strategy </a:t>
            </a:r>
            <a:endParaRPr sz="1600"/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2725807"/>
            <a:ext cx="1150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AVIATION ANALYTICS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85800" y="3018650"/>
            <a:ext cx="11205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2027 </a:t>
            </a:r>
            <a:r>
              <a:rPr b="1" i="0" lang="en-US" sz="4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Route - Market Research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85800" y="3936503"/>
            <a:ext cx="8334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Data-driven route gap evaluation across European secondary hubs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5800" y="5895826"/>
            <a:ext cx="3345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ANALYSTS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85800" y="6105376"/>
            <a:ext cx="33456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Sofija Šarafejeva • Pablo Ferreira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562725" y="6324450"/>
            <a:ext cx="239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Ironhack Data Analytics Project 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219200" y="562421"/>
            <a:ext cx="2571750" cy="198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HAMBURG</a:t>
            </a:r>
            <a:r>
              <a:rPr b="0" i="0" lang="en-US" sz="14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AIRLINES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219200" y="780454"/>
            <a:ext cx="25717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AVIATION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609600" y="1381125"/>
            <a:ext cx="10972800" cy="904800"/>
          </a:xfrm>
          <a:prstGeom prst="roundRect">
            <a:avLst>
              <a:gd fmla="val 12631" name="adj"/>
            </a:avLst>
          </a:prstGeom>
          <a:solidFill>
            <a:srgbClr val="F0F9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09600" y="1381125"/>
            <a:ext cx="57300" cy="9048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1476375"/>
            <a:ext cx="105729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GOAL</a:t>
            </a:r>
            <a:endParaRPr b="1" i="0" sz="11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>
                <a:solidFill>
                  <a:srgbClr val="0F172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Identify high-potential European airports and specific routes </a:t>
            </a:r>
            <a:r>
              <a:rPr lang="en-US">
                <a:solidFill>
                  <a:srgbClr val="0F172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to</a:t>
            </a:r>
            <a:r>
              <a:rPr b="0" i="0" lang="en-US">
                <a:solidFill>
                  <a:srgbClr val="0F172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launch that deliver strong profit margins and sustainable market share while avoiding destructive price wars against dominant legacy or ultra-low-cost carriers.</a:t>
            </a:r>
            <a:endParaRPr b="1" i="0" sz="11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19200" y="2634238"/>
            <a:ext cx="3505200" cy="200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19200" y="2634238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53100" y="2929813"/>
            <a:ext cx="3124200" cy="16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QUESTION 1</a:t>
            </a:r>
            <a:endParaRPr b="1" i="0" sz="13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airports command high average ticket prices and strong pricing resilience across their existing route network?</a:t>
            </a:r>
            <a:endParaRPr b="1" i="0" sz="13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353000" y="2634238"/>
            <a:ext cx="3505200" cy="200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353000" y="2634238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543500" y="2929813"/>
            <a:ext cx="3124200" cy="16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QUESTION 2</a:t>
            </a:r>
            <a:endParaRPr b="1" i="0" sz="135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airports have high traveler volumes but lower direct routes amount?</a:t>
            </a:r>
            <a:endParaRPr b="1" i="0" sz="135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086800" y="2634238"/>
            <a:ext cx="3505200" cy="200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8086800" y="2634238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77300" y="2929813"/>
            <a:ext cx="3124200" cy="132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QUESTION 3</a:t>
            </a:r>
            <a:endParaRPr b="1" i="0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airports demonstrate high passenger density per flight movement, indicating strong aircraft utilization?</a:t>
            </a:r>
            <a:endParaRPr b="1" i="0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09600" y="500062"/>
            <a:ext cx="35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CONTEXT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19200" y="4982675"/>
            <a:ext cx="10972800" cy="9807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09600" y="728662"/>
            <a:ext cx="373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609600" y="4982775"/>
            <a:ext cx="57300" cy="9807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09550" y="5184225"/>
            <a:ext cx="10572900" cy="44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hypothesis:</a:t>
            </a:r>
            <a:r>
              <a:rPr b="0" i="0" lang="en-US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Mid-sized European airports with solid passenger demand and high average ticket prices are underserved, making them ideal profitable operational bases for a new entrant without facing fierce price competition.</a:t>
            </a:r>
            <a:endParaRPr b="0" i="0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609600" y="1933725"/>
            <a:ext cx="5353200" cy="3695400"/>
          </a:xfrm>
          <a:prstGeom prst="roundRect">
            <a:avLst>
              <a:gd fmla="val 43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229350" y="1933725"/>
            <a:ext cx="5353200" cy="3695400"/>
          </a:xfrm>
          <a:prstGeom prst="roundRect">
            <a:avLst>
              <a:gd fmla="val 43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26084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75" y="228614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09600" y="500062"/>
            <a:ext cx="600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ARCHITECTURE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728662"/>
            <a:ext cx="63007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Wrangling and Cleaning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09675" y="2248050"/>
            <a:ext cx="313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Ingested Datasets &amp; API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48475" y="2248043"/>
            <a:ext cx="352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Transformation &amp; Cleaning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23925" y="3231040"/>
            <a:ext cx="478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Eurostat - A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ir Transport Database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23925" y="3469166"/>
            <a:ext cx="47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Annual passenger throughput across EU airports.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23925" y="3802543"/>
            <a:ext cx="478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OurAirports -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Airports Database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23925" y="4040669"/>
            <a:ext cx="47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IATA and ICAO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codes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23925" y="4374045"/>
            <a:ext cx="478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- Airport Traffic Dataset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23925" y="4612171"/>
            <a:ext cx="47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2025 flight movements, weekly frequency, and ticket fares.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543675" y="2686193"/>
            <a:ext cx="56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Filtering -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Schengen Zone Boundary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43675" y="2924318"/>
            <a:ext cx="56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isolation of member state domestic traffic.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43675" y="3257693"/>
            <a:ext cx="56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Harmonization -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ATA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Identifiers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543675" y="3495818"/>
            <a:ext cx="56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According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IATA code a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 databases for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table joins.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43675" y="3836943"/>
            <a:ext cx="56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Aggregations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Merging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Frames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543675" y="4075068"/>
            <a:ext cx="56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Consolidated annual departures and unique destination counts.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23925" y="4945548"/>
            <a:ext cx="478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Ninjas -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Airports API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23925" y="5183674"/>
            <a:ext cx="47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Airports locations and routes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23925" y="2686200"/>
            <a:ext cx="478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European Airports &amp; Air Routes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23925" y="2924326"/>
            <a:ext cx="47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routes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across EU airports.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543675" y="4376218"/>
            <a:ext cx="56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 data - Relevant columns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543675" y="4614343"/>
            <a:ext cx="56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IATA code and calculations 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543675" y="4915493"/>
            <a:ext cx="56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Plots creation - Ranking Airports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543675" y="5153618"/>
            <a:ext cx="56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Matplotlib and Seaborn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/>
        </p:nvSpPr>
        <p:spPr>
          <a:xfrm>
            <a:off x="217025" y="325000"/>
            <a:ext cx="10972800" cy="67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QUESTION  1</a:t>
            </a:r>
            <a:endParaRPr b="1" i="0" sz="10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450"/>
              </a:spcAft>
              <a:buNone/>
            </a:pPr>
            <a:r>
              <a:rPr b="1" i="0" lang="en-US" sz="21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Data Analysis: 1. Ticket Prices &amp; Market Yield</a:t>
            </a:r>
            <a:endParaRPr b="1" i="0" sz="21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59" name="Google Shape;159;p16"/>
          <p:cNvGrpSpPr/>
          <p:nvPr/>
        </p:nvGrpSpPr>
        <p:grpSpPr>
          <a:xfrm>
            <a:off x="7897600" y="1676250"/>
            <a:ext cx="3238794" cy="1306106"/>
            <a:chOff x="0" y="0"/>
            <a:chExt cx="4362600" cy="1485900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0"/>
              <a:ext cx="4362600" cy="1485900"/>
            </a:xfrm>
            <a:prstGeom prst="roundRect">
              <a:avLst>
                <a:gd fmla="val 7691" name="adj"/>
              </a:avLst>
            </a:prstGeom>
            <a:solidFill>
              <a:srgbClr val="FFFFFF"/>
            </a:solidFill>
            <a:ln cap="flat" cmpd="sng" w="83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0" y="0"/>
              <a:ext cx="38100" cy="1485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167254" y="229050"/>
              <a:ext cx="4028100" cy="102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55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01. Network Filter</a:t>
              </a:r>
              <a:endParaRPr b="1" i="0" sz="115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527"/>
                </a:spcBef>
                <a:spcAft>
                  <a:spcPts val="0"/>
                </a:spcAft>
                <a:buNone/>
              </a:pPr>
              <a:r>
                <a:rPr b="1" lang="en-US" sz="1243">
                  <a:solidFill>
                    <a:schemeClr val="dk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&lt;10 routes</a:t>
              </a:r>
              <a:r>
                <a:rPr lang="en-US" sz="106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-  filtering the  lack of sufficient traveler demand</a:t>
              </a:r>
              <a:endParaRPr sz="1067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527"/>
                </a:spcBef>
                <a:spcAft>
                  <a:spcPts val="527"/>
                </a:spcAft>
                <a:buNone/>
              </a:pPr>
              <a:r>
                <a:rPr b="1" lang="en-US" sz="1155">
                  <a:solidFill>
                    <a:srgbClr val="0C4A6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&gt;200 routes </a:t>
              </a:r>
              <a:r>
                <a:rPr lang="en-US" sz="106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- e</a:t>
              </a:r>
              <a:r>
                <a:rPr lang="en-US" sz="106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xcluding  saturated mega-hubs </a:t>
              </a:r>
              <a:endParaRPr sz="1067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3" name="Google Shape;163;p16"/>
          <p:cNvGrpSpPr/>
          <p:nvPr/>
        </p:nvGrpSpPr>
        <p:grpSpPr>
          <a:xfrm>
            <a:off x="7897600" y="4639958"/>
            <a:ext cx="3238794" cy="1306106"/>
            <a:chOff x="0" y="0"/>
            <a:chExt cx="4362600" cy="1485900"/>
          </a:xfrm>
        </p:grpSpPr>
        <p:sp>
          <p:nvSpPr>
            <p:cNvPr id="164" name="Google Shape;164;p16"/>
            <p:cNvSpPr/>
            <p:nvPr/>
          </p:nvSpPr>
          <p:spPr>
            <a:xfrm>
              <a:off x="0" y="0"/>
              <a:ext cx="4362600" cy="1485900"/>
            </a:xfrm>
            <a:prstGeom prst="roundRect">
              <a:avLst>
                <a:gd fmla="val 7691" name="adj"/>
              </a:avLst>
            </a:prstGeom>
            <a:solidFill>
              <a:srgbClr val="FFFFFF"/>
            </a:solidFill>
            <a:ln cap="flat" cmpd="sng" w="83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0" y="0"/>
              <a:ext cx="38100" cy="1485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209700" y="256650"/>
              <a:ext cx="3943200" cy="97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55">
                  <a:solidFill>
                    <a:srgbClr val="EF44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</a:t>
              </a:r>
              <a:r>
                <a:rPr b="1" lang="en-US" sz="1155">
                  <a:solidFill>
                    <a:srgbClr val="EF44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</a:t>
              </a:r>
              <a:r>
                <a:rPr b="1" i="0" lang="en-US" sz="1155">
                  <a:solidFill>
                    <a:srgbClr val="EF44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 Outliers</a:t>
              </a:r>
              <a:r>
                <a:rPr b="1" lang="en-US" sz="1155">
                  <a:solidFill>
                    <a:srgbClr val="EF44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SVQ</a:t>
              </a:r>
              <a:endParaRPr b="1" i="0" sz="1155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6"/>
                </a:spcBef>
                <a:spcAft>
                  <a:spcPts val="0"/>
                </a:spcAft>
                <a:buNone/>
              </a:pPr>
              <a:r>
                <a:rPr i="0" lang="en-US" sz="1067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Surface Mean: €449 vs. True Median: €50</a:t>
              </a:r>
              <a:endParaRPr i="0" sz="1067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6"/>
                </a:spcBef>
                <a:spcAft>
                  <a:spcPts val="396"/>
                </a:spcAft>
                <a:buNone/>
              </a:pPr>
              <a:r>
                <a:rPr b="0" i="0" lang="en-US" sz="1023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Seville's mean fare is severely distorted by extreme fare anomalies (Std Dev &gt; €2,300). </a:t>
              </a:r>
              <a:endParaRPr b="1" i="0" sz="1023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7897600" y="3158104"/>
            <a:ext cx="3238794" cy="1366296"/>
            <a:chOff x="0" y="0"/>
            <a:chExt cx="4362600" cy="1554375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0"/>
              <a:ext cx="4362600" cy="1485900"/>
            </a:xfrm>
            <a:prstGeom prst="roundRect">
              <a:avLst>
                <a:gd fmla="val 7691" name="adj"/>
              </a:avLst>
            </a:prstGeom>
            <a:solidFill>
              <a:srgbClr val="FFFFFF"/>
            </a:solidFill>
            <a:ln cap="flat" cmpd="sng" w="83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0" y="0"/>
              <a:ext cx="38100" cy="1485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209701" y="411375"/>
              <a:ext cx="3943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55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0</a:t>
              </a:r>
              <a:r>
                <a:rPr b="1" lang="en-US" sz="1155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</a:t>
              </a:r>
              <a:r>
                <a:rPr b="1" i="0" lang="en-US" sz="1155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 Pricing Resilience Verdict</a:t>
              </a:r>
              <a:endParaRPr b="1" i="0" sz="1155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527"/>
                </a:spcBef>
                <a:spcAft>
                  <a:spcPts val="527"/>
                </a:spcAft>
                <a:buNone/>
              </a:pPr>
              <a:r>
                <a:rPr lang="en-US" sz="106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Mean ticket price:  </a:t>
              </a:r>
              <a:r>
                <a:rPr b="1" lang="en-US" sz="1155">
                  <a:solidFill>
                    <a:srgbClr val="0C4A6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€150</a:t>
              </a:r>
              <a:r>
                <a:rPr lang="en-US" sz="106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threshold to keep the  target in the moderate, defensible route range</a:t>
              </a:r>
              <a:endParaRPr b="1" i="0" sz="1067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171" name="Google Shape;171;p16" title="high_margin_hubs_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25" y="1025475"/>
            <a:ext cx="7260662" cy="559440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6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8001150" y="2489246"/>
            <a:ext cx="3257400" cy="2498400"/>
          </a:xfrm>
          <a:prstGeom prst="roundRect">
            <a:avLst>
              <a:gd fmla="val 4251" name="adj"/>
            </a:avLst>
          </a:prstGeom>
          <a:solidFill>
            <a:srgbClr val="FFFFFF"/>
          </a:solidFill>
          <a:ln cap="flat" cmpd="sng" w="88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475" lIns="84950" spcFirstLastPara="1" rIns="84950" wrap="square" tIns="42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8138455" y="4040701"/>
            <a:ext cx="2673300" cy="655200"/>
          </a:xfrm>
          <a:prstGeom prst="roundRect">
            <a:avLst>
              <a:gd fmla="val 1081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2475" lIns="84950" spcFirstLastPara="1" rIns="84950" wrap="square" tIns="42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2286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12286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8248996" y="3074499"/>
            <a:ext cx="27618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Requirements:</a:t>
            </a:r>
            <a:endParaRPr sz="125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4" lvl="0" marL="424879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5"/>
              <a:buFont typeface="Plus Jakarta Sans"/>
              <a:buAutoNum type="arabicPeriod"/>
            </a:pPr>
            <a:r>
              <a:rPr lang="en-US" sz="125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10k - 40k Passengers / Year</a:t>
            </a:r>
            <a:endParaRPr sz="125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4" lvl="0" marL="424879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5"/>
              <a:buFont typeface="Plus Jakarta Sans"/>
              <a:buAutoNum type="arabicPeriod"/>
            </a:pPr>
            <a:r>
              <a:rPr lang="en-US" sz="125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10-200 Routes</a:t>
            </a:r>
            <a:endParaRPr sz="125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8235892" y="4110818"/>
            <a:ext cx="2478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 </a:t>
            </a:r>
            <a:r>
              <a:rPr b="1" lang="en-US" sz="1115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38 airports that meet the requirements. Taking out Big Hubs and Low Traffic Airports.</a:t>
            </a:r>
            <a:endParaRPr sz="1301"/>
          </a:p>
        </p:txBody>
      </p:sp>
      <p:sp>
        <p:nvSpPr>
          <p:cNvPr id="183" name="Google Shape;183;p17"/>
          <p:cNvSpPr txBox="1"/>
          <p:nvPr/>
        </p:nvSpPr>
        <p:spPr>
          <a:xfrm>
            <a:off x="8492520" y="2781280"/>
            <a:ext cx="26955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3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Passengers Volume</a:t>
            </a:r>
            <a:endParaRPr sz="1301"/>
          </a:p>
        </p:txBody>
      </p:sp>
      <p:sp>
        <p:nvSpPr>
          <p:cNvPr id="184" name="Google Shape;184;p17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17025" y="325000"/>
            <a:ext cx="10972800" cy="67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QUESTION  2</a:t>
            </a:r>
            <a:endParaRPr b="1" i="0" sz="10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Data Analysis: </a:t>
            </a:r>
            <a:r>
              <a:rPr b="1" lang="en-US" sz="21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</a:t>
            </a:r>
            <a:r>
              <a:rPr b="1" lang="en-US" sz="21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Competition &amp; Market Concentration</a:t>
            </a:r>
            <a:endParaRPr b="1" sz="21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t/>
            </a:r>
            <a:endParaRPr b="1" sz="21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6" name="Google Shape;1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025" y="1000600"/>
            <a:ext cx="7547648" cy="53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025" y="1000600"/>
            <a:ext cx="7500850" cy="570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219075" y="320950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QUESTION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sz="10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Data Analysis: 3. Capacity &amp; Passenger Density</a:t>
            </a:r>
            <a:endParaRPr b="0" sz="1250">
              <a:solidFill>
                <a:srgbClr val="64748B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866946" y="2706948"/>
            <a:ext cx="2391600" cy="1717800"/>
          </a:xfrm>
          <a:prstGeom prst="roundRect">
            <a:avLst>
              <a:gd fmla="val 6182" name="adj"/>
            </a:avLst>
          </a:prstGeom>
          <a:solidFill>
            <a:srgbClr val="FFFFFF"/>
          </a:solidFill>
          <a:ln cap="flat" cmpd="sng" w="88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8962196" y="3790950"/>
            <a:ext cx="2201100" cy="53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66950" y="2862652"/>
            <a:ext cx="2391600" cy="10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7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HEALTHY DENSITY</a:t>
            </a:r>
            <a:endParaRPr b="1" sz="687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8866950" y="3030810"/>
            <a:ext cx="2391600" cy="42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46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155–185</a:t>
            </a:r>
            <a:endParaRPr b="1" sz="2746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8866950" y="3504144"/>
            <a:ext cx="2391600" cy="14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5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Passengers per Flight Movement</a:t>
            </a:r>
            <a:endParaRPr b="1" sz="915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8991511" y="3902740"/>
            <a:ext cx="2142300" cy="24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5">
                <a:solidFill>
                  <a:srgbClr val="2563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Corresponds to ~8</a:t>
            </a:r>
            <a:r>
              <a:rPr lang="en-US" sz="785">
                <a:solidFill>
                  <a:srgbClr val="2563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</a:t>
            </a:r>
            <a:r>
              <a:rPr b="0" lang="en-US" sz="785">
                <a:solidFill>
                  <a:srgbClr val="2563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% seat load factor on standard A320 / B737 narrowbody aircraft.</a:t>
            </a:r>
            <a:endParaRPr b="0" sz="785">
              <a:solidFill>
                <a:srgbClr val="2563EB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pic>
        <p:nvPicPr>
          <p:cNvPr id="200" name="Google Shape;2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075" y="1007150"/>
            <a:ext cx="8454999" cy="558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609600" y="2397302"/>
            <a:ext cx="3505200" cy="2063400"/>
          </a:xfrm>
          <a:prstGeom prst="roundRect">
            <a:avLst>
              <a:gd fmla="val 4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343400" y="2397302"/>
            <a:ext cx="3505200" cy="2063400"/>
          </a:xfrm>
          <a:prstGeom prst="roundRect">
            <a:avLst>
              <a:gd fmla="val 4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8077200" y="2397302"/>
            <a:ext cx="3505200" cy="2063400"/>
          </a:xfrm>
          <a:prstGeom prst="roundRect">
            <a:avLst>
              <a:gd fmla="val 40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923925" y="2711632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657725" y="2711632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391525" y="2711632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09600" y="500062"/>
            <a:ext cx="706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AGILE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METHODOLOGY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09600" y="728662"/>
            <a:ext cx="741342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Teamwork &amp; Project Management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81050" y="2800182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23925" y="3245032"/>
            <a:ext cx="377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Kanban Setup 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23925" y="3664132"/>
            <a:ext cx="2971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Trello board for project planning and tasks tracking 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4514850" y="2800166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657725" y="3245032"/>
            <a:ext cx="312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Tasks distribution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732025" y="3631795"/>
            <a:ext cx="2971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Dividing Trello tasks between us along the project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248650" y="2800182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391525" y="3245032"/>
            <a:ext cx="377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Alignment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8391525" y="3631807"/>
            <a:ext cx="2971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Reviewing project flow and next steps definition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/>
          </a:p>
        </p:txBody>
      </p:sp>
      <p:pic>
        <p:nvPicPr>
          <p:cNvPr id="223" name="Google Shape;2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651" y="2555613"/>
            <a:ext cx="1161700" cy="69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666750" y="1970550"/>
            <a:ext cx="3505200" cy="2916900"/>
          </a:xfrm>
          <a:prstGeom prst="roundRect">
            <a:avLst>
              <a:gd fmla="val 27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9" name="Google Shape;229;p20"/>
          <p:cNvSpPr/>
          <p:nvPr/>
        </p:nvSpPr>
        <p:spPr>
          <a:xfrm>
            <a:off x="4400550" y="1970550"/>
            <a:ext cx="3505200" cy="2916900"/>
          </a:xfrm>
          <a:prstGeom prst="roundRect">
            <a:avLst>
              <a:gd fmla="val 27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0" name="Google Shape;230;p20"/>
          <p:cNvSpPr/>
          <p:nvPr/>
        </p:nvSpPr>
        <p:spPr>
          <a:xfrm>
            <a:off x="8134350" y="1970550"/>
            <a:ext cx="3505200" cy="2916900"/>
          </a:xfrm>
          <a:prstGeom prst="roundRect">
            <a:avLst>
              <a:gd fmla="val 27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1" name="Google Shape;231;p20"/>
          <p:cNvSpPr/>
          <p:nvPr/>
        </p:nvSpPr>
        <p:spPr>
          <a:xfrm>
            <a:off x="666750" y="19705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20"/>
          <p:cNvSpPr/>
          <p:nvPr/>
        </p:nvSpPr>
        <p:spPr>
          <a:xfrm>
            <a:off x="4400550" y="197055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3" name="Google Shape;233;p20"/>
          <p:cNvSpPr/>
          <p:nvPr/>
        </p:nvSpPr>
        <p:spPr>
          <a:xfrm>
            <a:off x="8134350" y="1970550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4" name="Google Shape;234;p20"/>
          <p:cNvSpPr txBox="1"/>
          <p:nvPr/>
        </p:nvSpPr>
        <p:spPr>
          <a:xfrm>
            <a:off x="895350" y="2667000"/>
            <a:ext cx="30480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block </a:t>
            </a: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Rate Limits &amp; Data</a:t>
            </a:r>
            <a:endParaRPr b="1" sz="12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transponder APIs imposed strict paywalls and call quotas.</a:t>
            </a:r>
            <a:endParaRPr b="1" sz="12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alt_route </a:t>
            </a: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Overcomplicating Scope</a:t>
            </a:r>
            <a:endParaRPr b="1" sz="12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 into multi-variable calculations clouded the business objective early on.</a:t>
            </a:r>
            <a:endParaRPr b="1" sz="12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629150" y="2667000"/>
            <a:ext cx="30480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lightbulb </a:t>
            </a: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Progress Over Perfection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data analytics, no dataset or initial plan is definitive, forward momentum is what counts.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track_changes </a:t>
            </a: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Alignment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statistical metric must tie directly to an actionable airline ROI.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8362950" y="2667000"/>
            <a:ext cx="3048000" cy="20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ac_unit </a:t>
            </a:r>
            <a:r>
              <a:rPr b="1" lang="en-US" sz="129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Freeze the Data Stack First</a:t>
            </a:r>
            <a:endParaRPr b="1" sz="111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064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Consolidate all primary tables (Eurostat, traffic, routes) before starting cleaning or chasing supplementary datasets.</a:t>
            </a:r>
            <a:endParaRPr b="1" sz="111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directions_run </a:t>
            </a:r>
            <a:r>
              <a:rPr b="1" lang="en-US" sz="129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Crawl, Walk, Run Approach</a:t>
            </a:r>
            <a:endParaRPr b="1" sz="111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064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 with basic aggregates and simple goals first to establish the business storyline before engineering granular features.</a:t>
            </a:r>
            <a:endParaRPr b="1" sz="111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95350" y="21473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4629150" y="21431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8362950" y="21431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95350" y="2233875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1" sz="13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29150" y="2233875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1" sz="135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8362800" y="2233875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1" sz="135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43" name="Google Shape;243;p20"/>
          <p:cNvGrpSpPr/>
          <p:nvPr/>
        </p:nvGrpSpPr>
        <p:grpSpPr>
          <a:xfrm>
            <a:off x="1371600" y="2143125"/>
            <a:ext cx="2571900" cy="381000"/>
            <a:chOff x="0" y="0"/>
            <a:chExt cx="2571900" cy="381000"/>
          </a:xfrm>
        </p:grpSpPr>
        <p:sp>
          <p:nvSpPr>
            <p:cNvPr id="244" name="Google Shape;244;p20"/>
            <p:cNvSpPr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OBSTACLES</a:t>
              </a:r>
              <a:endParaRPr b="1" sz="120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105400" y="2143125"/>
            <a:ext cx="2571900" cy="381000"/>
            <a:chOff x="0" y="0"/>
            <a:chExt cx="2571900" cy="3810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WE LEARNED</a:t>
              </a:r>
              <a:endParaRPr b="1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49" name="Google Shape;249;p20"/>
          <p:cNvGrpSpPr/>
          <p:nvPr/>
        </p:nvGrpSpPr>
        <p:grpSpPr>
          <a:xfrm>
            <a:off x="8839200" y="2143125"/>
            <a:ext cx="2571900" cy="381000"/>
            <a:chOff x="0" y="0"/>
            <a:chExt cx="2571900" cy="381000"/>
          </a:xfrm>
        </p:grpSpPr>
        <p:sp>
          <p:nvSpPr>
            <p:cNvPr id="250" name="Google Shape;250;p20"/>
            <p:cNvSpPr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WE'D DO DIFFERENTLY</a:t>
              </a:r>
              <a:endParaRPr b="1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52" name="Google Shape;252;p20"/>
          <p:cNvSpPr txBox="1"/>
          <p:nvPr/>
        </p:nvSpPr>
        <p:spPr>
          <a:xfrm>
            <a:off x="609600" y="500062"/>
            <a:ext cx="600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RETROSPECTIVE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09600" y="728662"/>
            <a:ext cx="63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Major Obstacles &amp; Key Learnings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5962638" y="1284575"/>
            <a:ext cx="5667300" cy="1856100"/>
          </a:xfrm>
          <a:prstGeom prst="roundRect">
            <a:avLst>
              <a:gd fmla="val 5801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315063" y="2429810"/>
            <a:ext cx="4962600" cy="960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62038" y="1536936"/>
            <a:ext cx="4962600" cy="895500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62050" y="2584681"/>
            <a:ext cx="4962600" cy="895500"/>
          </a:xfrm>
          <a:prstGeom prst="roundRect">
            <a:avLst>
              <a:gd fmla="val 1276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62050" y="3632436"/>
            <a:ext cx="4962600" cy="895500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0697163" y="1506060"/>
            <a:ext cx="647700" cy="2190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6388" y="168484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6315063" y="2591735"/>
            <a:ext cx="5057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Mediterranean connection capturing strong point-to-point tourism without transit stops.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0744713" y="1543448"/>
            <a:ext cx="5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WINNER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300400" y="1450985"/>
            <a:ext cx="153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315063" y="1908100"/>
            <a:ext cx="153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Heraklion</a:t>
            </a:r>
            <a:endParaRPr b="0" i="0" sz="1200" u="none" cap="none" strike="noStrike">
              <a:solidFill>
                <a:srgbClr val="0369A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(Crete, Greece)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8612163" y="1450985"/>
            <a:ext cx="1323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MAD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612163" y="1908185"/>
            <a:ext cx="132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Madrid </a:t>
            </a:r>
            <a:endParaRPr b="0" i="0" sz="1200" u="none" cap="none" strike="noStrike">
              <a:solidFill>
                <a:srgbClr val="0369A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(Spain)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047738" y="1748281"/>
            <a:ext cx="497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Plus Jakarta Sans"/>
              <a:buAutoNum type="arabicPeriod"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Premium Yield Potential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47738" y="1956181"/>
            <a:ext cx="423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average ticket prices protect operational margins.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005000" y="2803643"/>
            <a:ext cx="50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2.     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Volumes &amp; Market Concentration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033500" y="3053318"/>
            <a:ext cx="50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gh traveler volume but lower direct routes amount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1047750" y="3859006"/>
            <a:ext cx="49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3.    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Capacity &amp; Passenger Density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76400" y="4066900"/>
            <a:ext cx="434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traffic density fits perfectly inside the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assenger band.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562050" y="4680186"/>
            <a:ext cx="4962600" cy="895500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047750" y="4845106"/>
            <a:ext cx="497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Extra: 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Direct Competition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1047750" y="5053006"/>
            <a:ext cx="423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 existing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direct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routes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offers</a:t>
            </a:r>
            <a:endParaRPr/>
          </a:p>
        </p:txBody>
      </p:sp>
      <p:pic>
        <p:nvPicPr>
          <p:cNvPr id="282" name="Google Shape;28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638" y="3187150"/>
            <a:ext cx="5546525" cy="281949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609600" y="500062"/>
            <a:ext cx="600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RECOMMENDATION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09600" y="728662"/>
            <a:ext cx="63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and Insights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2"/>
          <p:cNvGrpSpPr/>
          <p:nvPr/>
        </p:nvGrpSpPr>
        <p:grpSpPr>
          <a:xfrm>
            <a:off x="609600" y="1956725"/>
            <a:ext cx="3505200" cy="2792161"/>
            <a:chOff x="0" y="0"/>
            <a:chExt cx="3505200" cy="4286400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3505200" cy="42864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0" y="0"/>
              <a:ext cx="35052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292" name="Google Shape;292;p22"/>
          <p:cNvSpPr txBox="1"/>
          <p:nvPr/>
        </p:nvSpPr>
        <p:spPr>
          <a:xfrm>
            <a:off x="838200" y="2667000"/>
            <a:ext cx="3048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Month-by-Month Trends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peak summer vs. off-peak winter drops.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Day-of-Week Scheduling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 Fri/Sun leisure spikes vs. midweek base.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93" name="Google Shape;293;p22"/>
          <p:cNvGrpSpPr/>
          <p:nvPr/>
        </p:nvGrpSpPr>
        <p:grpSpPr>
          <a:xfrm>
            <a:off x="4343400" y="1956725"/>
            <a:ext cx="3505200" cy="2792161"/>
            <a:chOff x="0" y="0"/>
            <a:chExt cx="3505200" cy="4286400"/>
          </a:xfrm>
        </p:grpSpPr>
        <p:sp>
          <p:nvSpPr>
            <p:cNvPr id="294" name="Google Shape;294;p22"/>
            <p:cNvSpPr/>
            <p:nvPr/>
          </p:nvSpPr>
          <p:spPr>
            <a:xfrm>
              <a:off x="0" y="0"/>
              <a:ext cx="3505200" cy="42864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0" y="0"/>
              <a:ext cx="35052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296" name="Google Shape;296;p22"/>
          <p:cNvSpPr txBox="1"/>
          <p:nvPr/>
        </p:nvSpPr>
        <p:spPr>
          <a:xfrm>
            <a:off x="4572000" y="2667000"/>
            <a:ext cx="3048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Greece &amp; Spain Deep-Dive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macroeconomic inbound tourism flows.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 Airport Value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Re-evaluate overlooked, lesser-known regional gateways for hidden gem niche routes.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97" name="Google Shape;297;p22"/>
          <p:cNvGrpSpPr/>
          <p:nvPr/>
        </p:nvGrpSpPr>
        <p:grpSpPr>
          <a:xfrm>
            <a:off x="8077200" y="1956725"/>
            <a:ext cx="3505200" cy="2792161"/>
            <a:chOff x="0" y="0"/>
            <a:chExt cx="3505200" cy="4286400"/>
          </a:xfrm>
        </p:grpSpPr>
        <p:sp>
          <p:nvSpPr>
            <p:cNvPr id="298" name="Google Shape;298;p22"/>
            <p:cNvSpPr/>
            <p:nvPr/>
          </p:nvSpPr>
          <p:spPr>
            <a:xfrm>
              <a:off x="0" y="0"/>
              <a:ext cx="3505200" cy="42864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0" y="0"/>
              <a:ext cx="35052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300" name="Google Shape;300;p22"/>
          <p:cNvSpPr txBox="1"/>
          <p:nvPr/>
        </p:nvSpPr>
        <p:spPr>
          <a:xfrm>
            <a:off x="8305800" y="2667000"/>
            <a:ext cx="3048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Paid Flight API Subscription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 live price ranges across off-peak, shoulder, and peak holiday travel periods.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Profitability Modeling</a:t>
            </a:r>
            <a:endParaRPr b="1" sz="1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 extensive financial analysis prior to commercial launch.</a:t>
            </a:r>
            <a:endParaRPr b="0"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838200" y="21431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838200" y="2233879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1" sz="13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314450" y="214312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TEMPORAL &amp; SEASONAL DEPTH</a:t>
            </a:r>
            <a:endParaRPr b="1" sz="120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572000" y="21431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4572000" y="2233879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1" sz="135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048250" y="214312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REGIONAL TOURISM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8305800" y="2143125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8305800" y="2233879"/>
            <a:ext cx="381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1" sz="135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8782050" y="214312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PRICING &amp; NETWORK SCOPE</a:t>
            </a:r>
            <a:endParaRPr b="1" sz="120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609600" y="500062"/>
            <a:ext cx="600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RESEARCH ROADMAP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609600" y="728650"/>
            <a:ext cx="1143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Steps: Advanced Research &amp; Model Refinement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5829300" y="3928020"/>
            <a:ext cx="5334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8" name="Google Shape;3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4362" y="169158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8187" y="18154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3820715" y="2472630"/>
            <a:ext cx="4550568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4214812" y="4270920"/>
            <a:ext cx="3762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Sofija Šarafejeva • Pablo Ferreira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4708921" y="4585245"/>
            <a:ext cx="27741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Analytics Feasibility Team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5034529" y="1810143"/>
            <a:ext cx="223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HAMBURG</a:t>
            </a: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AIRLINES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11258550" y="6133951"/>
            <a:ext cx="247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